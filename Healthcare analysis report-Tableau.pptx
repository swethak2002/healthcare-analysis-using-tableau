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2" r:id="rId1"/>
  </p:sldMasterIdLst>
  <p:sldIdLst>
    <p:sldId id="256" r:id="rId2"/>
    <p:sldId id="257" r:id="rId3"/>
    <p:sldId id="280" r:id="rId4"/>
    <p:sldId id="270" r:id="rId5"/>
    <p:sldId id="281" r:id="rId6"/>
    <p:sldId id="282" r:id="rId7"/>
    <p:sldId id="258" r:id="rId8"/>
    <p:sldId id="271" r:id="rId9"/>
    <p:sldId id="272" r:id="rId10"/>
    <p:sldId id="273" r:id="rId11"/>
    <p:sldId id="264" r:id="rId12"/>
    <p:sldId id="265" r:id="rId13"/>
    <p:sldId id="266" r:id="rId14"/>
    <p:sldId id="267" r:id="rId15"/>
    <p:sldId id="274" r:id="rId16"/>
    <p:sldId id="275" r:id="rId17"/>
    <p:sldId id="277" r:id="rId18"/>
    <p:sldId id="27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AAD347D-5ACD-4C99-B74B-A9C85AD731AF}" type="datetimeFigureOut">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565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67775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6783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796027F-7875-4030-9381-8BD8C4F21935}" type="datetimeFigureOut">
              <a:rPr lang="en-US" smtClean="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873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796027F-7875-4030-9381-8BD8C4F21935}" type="datetimeFigureOut">
              <a:rPr lang="en-US" smtClean="0"/>
              <a:t>11/13/2025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10323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509A250-FF31-4206-8172-F9D3106AACB1}" type="datetimeFigureOut">
              <a:rPr lang="en-US" smtClean="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1671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26590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5072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59498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02523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26619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D347D-5ACD-4C99-B74B-A9C85AD731AF}" type="datetimeFigureOut">
              <a:rPr lang="en-US" smtClean="0"/>
              <a:t>11/13/2025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3854618547"/>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HealthCare Analysis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15665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fontScale="92500"/>
          </a:bodyPr>
          <a:lstStyle/>
          <a:p>
            <a:r>
              <a:rPr lang="en-US" dirty="0"/>
              <a:t>The provided healthcare dataset includes comprehensive data on funding for various research and disease areas from 2008 to 2024, as well as mortality and prevalence data for 2019.The objective of this project is to create an extensive Tableau dashboard based on the provided dataset. </a:t>
            </a:r>
            <a:endParaRPr lang="en-US" dirty="0" smtClean="0"/>
          </a:p>
          <a:p>
            <a:r>
              <a:rPr lang="en-US" dirty="0" smtClean="0"/>
              <a:t>The </a:t>
            </a:r>
            <a:r>
              <a:rPr lang="en-US" dirty="0"/>
              <a:t>dashboard will include various types of visualizations, analytical techniques, and features. This will demonstrate different functionalities in Tableau, such as joins, custom SQL, filters, and advanced calculations</a:t>
            </a:r>
            <a:r>
              <a:rPr lang="en-US" dirty="0" smtClean="0"/>
              <a:t>.</a:t>
            </a:r>
          </a:p>
          <a:p>
            <a:r>
              <a:rPr lang="en-US" dirty="0" smtClean="0"/>
              <a:t>This </a:t>
            </a:r>
            <a:r>
              <a:rPr lang="en-US" dirty="0"/>
              <a:t>project will showcase my ability to leverage Tableau’s full range of functionalities to present complex healthcare data in an accessible, actionable way.</a:t>
            </a:r>
          </a:p>
        </p:txBody>
      </p:sp>
    </p:spTree>
    <p:extLst>
      <p:ext uri="{BB962C8B-B14F-4D97-AF65-F5344CB8AC3E}">
        <p14:creationId xmlns:p14="http://schemas.microsoft.com/office/powerpoint/2010/main" val="2116572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Methodologies</a:t>
            </a:r>
          </a:p>
        </p:txBody>
      </p:sp>
      <p:sp>
        <p:nvSpPr>
          <p:cNvPr id="3" name="Content Placeholder 2"/>
          <p:cNvSpPr>
            <a:spLocks noGrp="1"/>
          </p:cNvSpPr>
          <p:nvPr>
            <p:ph idx="1"/>
          </p:nvPr>
        </p:nvSpPr>
        <p:spPr>
          <a:xfrm>
            <a:off x="1071154" y="1271452"/>
            <a:ext cx="10650583" cy="5586548"/>
          </a:xfrm>
        </p:spPr>
        <p:txBody>
          <a:bodyPr>
            <a:noAutofit/>
          </a:bodyPr>
          <a:lstStyle/>
          <a:p>
            <a:r>
              <a:rPr lang="en-US" sz="2000" b="1" dirty="0">
                <a:latin typeface="Century Gothic" panose="020B0502020202020204" pitchFamily="34" charset="0"/>
              </a:rPr>
              <a:t>Data Preparation</a:t>
            </a:r>
          </a:p>
          <a:p>
            <a:pPr marL="0" indent="0">
              <a:buNone/>
            </a:pPr>
            <a:endParaRPr lang="en-US" sz="2000" dirty="0">
              <a:latin typeface="Century Gothic" panose="020B0502020202020204" pitchFamily="34" charset="0"/>
            </a:endParaRPr>
          </a:p>
          <a:p>
            <a:pPr marL="0" lvl="0" indent="0" defTabSz="914400" eaLnBrk="0" fontAlgn="base" hangingPunct="0">
              <a:spcBef>
                <a:spcPct val="0"/>
              </a:spcBef>
              <a:spcAft>
                <a:spcPct val="0"/>
              </a:spcAft>
              <a:buClrTx/>
              <a:buSzTx/>
              <a:buFontTx/>
              <a:buChar char="•"/>
            </a:pPr>
            <a:r>
              <a:rPr lang="en-US" altLang="en-US" sz="2000" dirty="0">
                <a:latin typeface="Century Gothic" panose="020B0502020202020204" pitchFamily="34" charset="0"/>
              </a:rPr>
              <a:t>Cleaned and structured data from the provided Excel sheets (RCDC &amp; Summary datasets).</a:t>
            </a:r>
          </a:p>
          <a:p>
            <a:pPr marL="0" lvl="0" indent="0" defTabSz="914400" eaLnBrk="0" fontAlgn="base" hangingPunct="0">
              <a:spcBef>
                <a:spcPct val="0"/>
              </a:spcBef>
              <a:spcAft>
                <a:spcPct val="0"/>
              </a:spcAft>
              <a:buClrTx/>
              <a:buSzTx/>
              <a:buFontTx/>
              <a:buChar char="•"/>
            </a:pPr>
            <a:r>
              <a:rPr lang="en-US" altLang="en-US" sz="2000" dirty="0">
                <a:latin typeface="Century Gothic" panose="020B0502020202020204" pitchFamily="34" charset="0"/>
              </a:rPr>
              <a:t>Missing values, duplicates, and non-numeric inconsistencies were handled.</a:t>
            </a:r>
          </a:p>
          <a:p>
            <a:pPr marL="0" lvl="0" indent="0" defTabSz="914400" eaLnBrk="0" fontAlgn="base" hangingPunct="0">
              <a:spcBef>
                <a:spcPct val="0"/>
              </a:spcBef>
              <a:spcAft>
                <a:spcPct val="0"/>
              </a:spcAft>
              <a:buClrTx/>
              <a:buSzTx/>
              <a:buFontTx/>
              <a:buChar char="•"/>
            </a:pPr>
            <a:r>
              <a:rPr lang="en-US" altLang="en-US" sz="2000" dirty="0">
                <a:latin typeface="Century Gothic" panose="020B0502020202020204" pitchFamily="34" charset="0"/>
              </a:rPr>
              <a:t>Pivoted Standardized year-based funding columns (2008–2024).</a:t>
            </a:r>
          </a:p>
          <a:p>
            <a:pPr marL="0" lvl="0" indent="0" defTabSz="914400" eaLnBrk="0" fontAlgn="base" hangingPunct="0">
              <a:spcBef>
                <a:spcPct val="0"/>
              </a:spcBef>
              <a:spcAft>
                <a:spcPct val="0"/>
              </a:spcAft>
              <a:buClrTx/>
              <a:buSzTx/>
              <a:buFontTx/>
              <a:buChar char="•"/>
            </a:pPr>
            <a:r>
              <a:rPr lang="en-US" altLang="en-US" sz="2000" dirty="0">
                <a:latin typeface="Century Gothic" panose="020B0502020202020204" pitchFamily="34" charset="0"/>
              </a:rPr>
              <a:t>Integrated 2019 mortality and prevalence data with corresponding disease research areas.</a:t>
            </a:r>
          </a:p>
          <a:p>
            <a:pPr marL="0" lvl="0" indent="0" defTabSz="914400" eaLnBrk="0" fontAlgn="base" hangingPunct="0">
              <a:spcBef>
                <a:spcPct val="0"/>
              </a:spcBef>
              <a:spcAft>
                <a:spcPct val="0"/>
              </a:spcAft>
              <a:buClrTx/>
              <a:buSzTx/>
              <a:buFontTx/>
              <a:buChar char="•"/>
            </a:pPr>
            <a:r>
              <a:rPr lang="en-US" sz="2000" dirty="0">
                <a:latin typeface="Century Gothic" panose="020B0502020202020204" pitchFamily="34" charset="0"/>
              </a:rPr>
              <a:t>Converted data types ensured funding columns were numeric, years were chronological, and text labels were consistent.</a:t>
            </a:r>
          </a:p>
          <a:p>
            <a:pPr marL="0" lvl="0" indent="0" defTabSz="914400" eaLnBrk="0" fontAlgn="base" hangingPunct="0">
              <a:spcBef>
                <a:spcPct val="0"/>
              </a:spcBef>
              <a:spcAft>
                <a:spcPct val="0"/>
              </a:spcAft>
              <a:buClrTx/>
              <a:buSzTx/>
              <a:buFontTx/>
              <a:buChar char="•"/>
            </a:pPr>
            <a:r>
              <a:rPr lang="en-US" altLang="en-US" sz="2000" dirty="0">
                <a:latin typeface="Century Gothic" panose="020B0502020202020204" pitchFamily="34" charset="0"/>
              </a:rPr>
              <a:t>Combined all visuals into a cohesive, user-friendly dashboard.</a:t>
            </a:r>
          </a:p>
          <a:p>
            <a:pPr marL="0" lvl="0" indent="0" defTabSz="914400" eaLnBrk="0" fontAlgn="base" hangingPunct="0">
              <a:spcBef>
                <a:spcPct val="0"/>
              </a:spcBef>
              <a:spcAft>
                <a:spcPct val="0"/>
              </a:spcAft>
              <a:buClrTx/>
              <a:buSzTx/>
              <a:buFontTx/>
              <a:buChar char="•"/>
            </a:pPr>
            <a:r>
              <a:rPr lang="en-US" altLang="en-US" sz="2000" dirty="0">
                <a:latin typeface="Century Gothic" panose="020B0502020202020204" pitchFamily="34" charset="0"/>
              </a:rPr>
              <a:t>Added filters, parameters, actions, and tooltips for interactive exploration.</a:t>
            </a:r>
          </a:p>
          <a:p>
            <a:pPr marL="0" lvl="0" indent="0" defTabSz="914400" eaLnBrk="0" fontAlgn="base" hangingPunct="0">
              <a:spcBef>
                <a:spcPct val="0"/>
              </a:spcBef>
              <a:spcAft>
                <a:spcPct val="0"/>
              </a:spcAft>
              <a:buClrTx/>
              <a:buSzTx/>
              <a:buFontTx/>
              <a:buChar char="•"/>
            </a:pPr>
            <a:r>
              <a:rPr lang="en-US" altLang="en-US" sz="2000" dirty="0">
                <a:latin typeface="Century Gothic" panose="020B0502020202020204" pitchFamily="34" charset="0"/>
              </a:rPr>
              <a:t>Ensured clarity through color-coding, legends, and consistent formatting.</a:t>
            </a:r>
          </a:p>
          <a:p>
            <a:pPr marL="0" lvl="0" indent="0" defTabSz="914400" eaLnBrk="0" fontAlgn="base" hangingPunct="0">
              <a:spcBef>
                <a:spcPct val="0"/>
              </a:spcBef>
              <a:spcAft>
                <a:spcPct val="0"/>
              </a:spcAft>
              <a:buClrTx/>
              <a:buSzTx/>
              <a:buFontTx/>
              <a:buChar char="•"/>
            </a:pPr>
            <a:r>
              <a:rPr lang="en-US" altLang="en-US" sz="2000" dirty="0">
                <a:latin typeface="Century Gothic" panose="020B0502020202020204" pitchFamily="34" charset="0"/>
              </a:rPr>
              <a:t>Final dashboard allowed users to:</a:t>
            </a:r>
          </a:p>
          <a:p>
            <a:pPr marL="0" lvl="0" indent="0" algn="ctr" defTabSz="914400" eaLnBrk="0" fontAlgn="base" hangingPunct="0">
              <a:spcBef>
                <a:spcPct val="0"/>
              </a:spcBef>
              <a:spcAft>
                <a:spcPct val="0"/>
              </a:spcAft>
              <a:buClrTx/>
              <a:buSzTx/>
              <a:buNone/>
            </a:pPr>
            <a:r>
              <a:rPr lang="en-US" altLang="en-US" sz="2000" dirty="0">
                <a:latin typeface="Century Gothic" panose="020B0502020202020204" pitchFamily="34" charset="0"/>
              </a:rPr>
              <a:t>Compare multiple diseases</a:t>
            </a:r>
          </a:p>
          <a:p>
            <a:pPr marL="0" lvl="0" indent="0" algn="ctr" defTabSz="914400" eaLnBrk="0" fontAlgn="base" hangingPunct="0">
              <a:spcBef>
                <a:spcPct val="0"/>
              </a:spcBef>
              <a:spcAft>
                <a:spcPct val="0"/>
              </a:spcAft>
              <a:buClrTx/>
              <a:buSzTx/>
              <a:buNone/>
            </a:pPr>
            <a:r>
              <a:rPr lang="en-US" altLang="en-US" sz="2000" dirty="0">
                <a:latin typeface="Century Gothic" panose="020B0502020202020204" pitchFamily="34" charset="0"/>
              </a:rPr>
              <a:t>     Analyze funding effectiveness</a:t>
            </a:r>
          </a:p>
          <a:p>
            <a:pPr marL="0" lvl="0" indent="0" algn="ctr" defTabSz="914400" eaLnBrk="0" fontAlgn="base" hangingPunct="0">
              <a:spcBef>
                <a:spcPct val="0"/>
              </a:spcBef>
              <a:spcAft>
                <a:spcPct val="0"/>
              </a:spcAft>
              <a:buClrTx/>
              <a:buSzTx/>
              <a:buNone/>
            </a:pPr>
            <a:r>
              <a:rPr lang="en-US" altLang="en-US" sz="2000" dirty="0">
                <a:latin typeface="Century Gothic" panose="020B0502020202020204" pitchFamily="34" charset="0"/>
              </a:rPr>
              <a:t>          Predict future trends interactively</a:t>
            </a:r>
          </a:p>
          <a:p>
            <a:pPr marL="0" indent="0" defTabSz="914400" eaLnBrk="0" fontAlgn="base" hangingPunct="0">
              <a:spcBef>
                <a:spcPct val="0"/>
              </a:spcBef>
              <a:spcAft>
                <a:spcPct val="0"/>
              </a:spcAft>
              <a:buClrTx/>
              <a:buSzTx/>
              <a:buNone/>
            </a:pPr>
            <a:endParaRPr lang="en-US" altLang="en-US" sz="2000" dirty="0">
              <a:latin typeface="Century Gothic" panose="020B0502020202020204" pitchFamily="34" charset="0"/>
            </a:endParaRPr>
          </a:p>
          <a:p>
            <a:pPr marL="0" lvl="0" indent="0" defTabSz="914400" eaLnBrk="0" fontAlgn="base" hangingPunct="0">
              <a:spcBef>
                <a:spcPct val="0"/>
              </a:spcBef>
              <a:spcAft>
                <a:spcPct val="0"/>
              </a:spcAft>
              <a:buClrTx/>
              <a:buSzTx/>
              <a:buNone/>
            </a:pPr>
            <a:endParaRPr lang="en-US" sz="2000" dirty="0">
              <a:latin typeface="Century Gothic" panose="020B0502020202020204" pitchFamily="34" charset="0"/>
            </a:endParaRPr>
          </a:p>
          <a:p>
            <a:pPr marL="0" lvl="0" indent="0" defTabSz="914400" eaLnBrk="0" fontAlgn="base" hangingPunct="0">
              <a:spcBef>
                <a:spcPct val="0"/>
              </a:spcBef>
              <a:spcAft>
                <a:spcPct val="0"/>
              </a:spcAft>
              <a:buClrTx/>
              <a:buSzTx/>
              <a:buFontTx/>
              <a:buChar char="•"/>
            </a:pPr>
            <a:endParaRPr lang="en-US" altLang="en-US" sz="2000" dirty="0">
              <a:latin typeface="Century Gothic" panose="020B0502020202020204" pitchFamily="34" charset="0"/>
            </a:endParaRPr>
          </a:p>
          <a:p>
            <a:endParaRPr lang="en-US" sz="2000" dirty="0">
              <a:latin typeface="Century Gothic" panose="020B0502020202020204" pitchFamily="34" charset="0"/>
            </a:endParaRPr>
          </a:p>
          <a:p>
            <a:endParaRPr lang="en-US" sz="2000" dirty="0">
              <a:latin typeface="Century Gothic" panose="020B0502020202020204" pitchFamily="34" charset="0"/>
            </a:endParaRPr>
          </a:p>
          <a:p>
            <a:endParaRPr lang="en-US" sz="2000" dirty="0"/>
          </a:p>
        </p:txBody>
      </p:sp>
    </p:spTree>
    <p:extLst>
      <p:ext uri="{BB962C8B-B14F-4D97-AF65-F5344CB8AC3E}">
        <p14:creationId xmlns:p14="http://schemas.microsoft.com/office/powerpoint/2010/main" val="1887510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Visualization and Dashboard Development</a:t>
            </a:r>
          </a:p>
        </p:txBody>
      </p:sp>
      <p:sp>
        <p:nvSpPr>
          <p:cNvPr id="3" name="Content Placeholder 2"/>
          <p:cNvSpPr>
            <a:spLocks noGrp="1"/>
          </p:cNvSpPr>
          <p:nvPr>
            <p:ph idx="1"/>
          </p:nvPr>
        </p:nvSpPr>
        <p:spPr>
          <a:xfrm>
            <a:off x="2002971" y="2098766"/>
            <a:ext cx="9501641" cy="3812456"/>
          </a:xfrm>
        </p:spPr>
        <p:txBody>
          <a:bodyPr>
            <a:normAutofit fontScale="77500" lnSpcReduction="20000"/>
          </a:bodyPr>
          <a:lstStyle/>
          <a:p>
            <a:r>
              <a:rPr lang="en-US" dirty="0"/>
              <a:t>Developed multiple visualization types to answer key analytical questions:</a:t>
            </a:r>
          </a:p>
          <a:p>
            <a:r>
              <a:rPr lang="en-US" dirty="0"/>
              <a:t>Line Graphs show funding trends over time</a:t>
            </a:r>
            <a:r>
              <a:rPr lang="en-US" dirty="0" smtClean="0"/>
              <a:t>.</a:t>
            </a:r>
          </a:p>
          <a:p>
            <a:r>
              <a:rPr lang="en-US" dirty="0" smtClean="0"/>
              <a:t>Dual </a:t>
            </a:r>
            <a:r>
              <a:rPr lang="en-US" dirty="0"/>
              <a:t>Line Graphs compare two research areas</a:t>
            </a:r>
            <a:r>
              <a:rPr lang="en-US" dirty="0" smtClean="0"/>
              <a:t>.</a:t>
            </a:r>
          </a:p>
          <a:p>
            <a:r>
              <a:rPr lang="en-US" dirty="0" smtClean="0"/>
              <a:t>Bar </a:t>
            </a:r>
            <a:r>
              <a:rPr lang="en-US" dirty="0"/>
              <a:t>Charts (Side by side, Stacked) compare funding distribution</a:t>
            </a:r>
            <a:r>
              <a:rPr lang="en-US" dirty="0" smtClean="0"/>
              <a:t>.</a:t>
            </a:r>
          </a:p>
          <a:p>
            <a:r>
              <a:rPr lang="en-US" dirty="0" smtClean="0"/>
              <a:t>Pie </a:t>
            </a:r>
            <a:r>
              <a:rPr lang="en-US" dirty="0"/>
              <a:t>and Doughnut Charts show funding proportion</a:t>
            </a:r>
            <a:r>
              <a:rPr lang="en-US" dirty="0" smtClean="0"/>
              <a:t>.</a:t>
            </a:r>
          </a:p>
          <a:p>
            <a:r>
              <a:rPr lang="en-US" dirty="0" smtClean="0"/>
              <a:t>Gantt </a:t>
            </a:r>
            <a:r>
              <a:rPr lang="en-US" dirty="0"/>
              <a:t>Chart represents the funding timeline</a:t>
            </a:r>
            <a:r>
              <a:rPr lang="en-US" dirty="0" smtClean="0"/>
              <a:t>.</a:t>
            </a:r>
          </a:p>
          <a:p>
            <a:r>
              <a:rPr lang="en-US" dirty="0" smtClean="0"/>
              <a:t>Scatter </a:t>
            </a:r>
            <a:r>
              <a:rPr lang="en-US" dirty="0"/>
              <a:t>Plot correlates funding with other factors like mortality or prevalence</a:t>
            </a:r>
            <a:r>
              <a:rPr lang="en-US" dirty="0" smtClean="0"/>
              <a:t>.</a:t>
            </a:r>
          </a:p>
          <a:p>
            <a:r>
              <a:rPr lang="en-US" dirty="0" smtClean="0"/>
              <a:t>Tree </a:t>
            </a:r>
            <a:r>
              <a:rPr lang="en-US" dirty="0"/>
              <a:t>and Heat Maps visualize hierarchical data and intensity levels.</a:t>
            </a:r>
            <a:br>
              <a:rPr lang="en-US" dirty="0"/>
            </a:br>
            <a:r>
              <a:rPr lang="en-US" dirty="0"/>
              <a:t>Maps (Symbol and Filled) perform geographic analysis of funding</a:t>
            </a:r>
            <a:r>
              <a:rPr lang="en-US" dirty="0" smtClean="0"/>
              <a:t>.</a:t>
            </a:r>
          </a:p>
          <a:p>
            <a:r>
              <a:rPr lang="en-US" dirty="0" smtClean="0"/>
              <a:t>Waterfall </a:t>
            </a:r>
            <a:r>
              <a:rPr lang="en-US" dirty="0"/>
              <a:t>and Whisker Charts show funding variation, increments, and ranges over time.</a:t>
            </a:r>
          </a:p>
        </p:txBody>
      </p:sp>
    </p:spTree>
    <p:extLst>
      <p:ext uri="{BB962C8B-B14F-4D97-AF65-F5344CB8AC3E}">
        <p14:creationId xmlns:p14="http://schemas.microsoft.com/office/powerpoint/2010/main" val="3195489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1989" y="0"/>
            <a:ext cx="12110011" cy="6858000"/>
          </a:xfrm>
          <a:prstGeom prst="rect">
            <a:avLst/>
          </a:prstGeom>
        </p:spPr>
      </p:pic>
    </p:spTree>
    <p:extLst>
      <p:ext uri="{BB962C8B-B14F-4D97-AF65-F5344CB8AC3E}">
        <p14:creationId xmlns:p14="http://schemas.microsoft.com/office/powerpoint/2010/main" val="3533156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rotWithShape="1">
          <a:blip r:embed="rId2"/>
          <a:srcRect l="500" t="149" r="428" b="-3047"/>
          <a:stretch/>
        </p:blipFill>
        <p:spPr>
          <a:xfrm>
            <a:off x="56605" y="82731"/>
            <a:ext cx="12078789" cy="6775269"/>
          </a:xfrm>
          <a:prstGeom prst="rect">
            <a:avLst/>
          </a:prstGeom>
        </p:spPr>
      </p:pic>
    </p:spTree>
    <p:extLst>
      <p:ext uri="{BB962C8B-B14F-4D97-AF65-F5344CB8AC3E}">
        <p14:creationId xmlns:p14="http://schemas.microsoft.com/office/powerpoint/2010/main" val="2680425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2900" y="-76199"/>
            <a:ext cx="11010900" cy="1238249"/>
          </a:xfrm>
        </p:spPr>
        <p:txBody>
          <a:bodyPr/>
          <a:lstStyle/>
          <a:p>
            <a:r>
              <a:rPr lang="en-US" dirty="0"/>
              <a:t>Key Findings</a:t>
            </a:r>
          </a:p>
        </p:txBody>
      </p:sp>
      <p:sp>
        <p:nvSpPr>
          <p:cNvPr id="3" name="Content Placeholder 2"/>
          <p:cNvSpPr>
            <a:spLocks noGrp="1"/>
          </p:cNvSpPr>
          <p:nvPr>
            <p:ph idx="1"/>
          </p:nvPr>
        </p:nvSpPr>
        <p:spPr>
          <a:xfrm>
            <a:off x="342900" y="904876"/>
            <a:ext cx="10055134" cy="3597456"/>
          </a:xfrm>
        </p:spPr>
        <p:txBody>
          <a:bodyPr>
            <a:normAutofit/>
          </a:bodyPr>
          <a:lstStyle/>
          <a:p>
            <a:pPr marL="0" indent="0">
              <a:buNone/>
            </a:pPr>
            <a:r>
              <a:rPr lang="en-US" sz="2000" b="1" dirty="0">
                <a:latin typeface="Cambria" panose="02040503050406030204" pitchFamily="18" charset="0"/>
                <a:ea typeface="Cambria" panose="02040503050406030204" pitchFamily="18" charset="0"/>
              </a:rPr>
              <a:t>1. Consistent Funding Growth in Major Research </a:t>
            </a:r>
            <a:r>
              <a:rPr lang="en-US" sz="2000" b="1" dirty="0" smtClean="0">
                <a:latin typeface="Cambria" panose="02040503050406030204" pitchFamily="18" charset="0"/>
                <a:ea typeface="Cambria" panose="02040503050406030204" pitchFamily="18" charset="0"/>
              </a:rPr>
              <a:t>Areas</a:t>
            </a:r>
          </a:p>
          <a:p>
            <a:pPr marL="0" lvl="0" indent="0" defTabSz="914400" eaLnBrk="0" fontAlgn="base" hangingPunct="0">
              <a:spcBef>
                <a:spcPct val="0"/>
              </a:spcBef>
              <a:spcAft>
                <a:spcPct val="0"/>
              </a:spcAft>
              <a:buClrTx/>
              <a:buSzTx/>
              <a:buNone/>
            </a:pPr>
            <a:r>
              <a:rPr lang="en-US" altLang="en-US" sz="2000" b="1" dirty="0" smtClean="0">
                <a:latin typeface="Calibri Light" panose="020F0302020204030204" pitchFamily="34" charset="0"/>
                <a:ea typeface="Calibri Light" panose="020F0302020204030204" pitchFamily="34" charset="0"/>
                <a:cs typeface="Calibri Light" panose="020F0302020204030204" pitchFamily="34" charset="0"/>
              </a:rPr>
              <a:t>Finding</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From 2008 to 2024, total healthcare research funding shows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steady growth</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with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Cancer, Cardiovascular, and Neurological Diseases</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receiving the largest and most consistent allocations</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FontTx/>
              <a:buChar char="•"/>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Insight: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Indicates strong long-term national focus on high-mortality and chronic diseases</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Single Line Graph</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displays year-wise funding trend for individual research areas.</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Dual Line Graph</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compares growth trends between two top-funded disease areas (e.g., Cancer vs. Cardiovascular).</a:t>
            </a:r>
          </a:p>
          <a:p>
            <a:endParaRPr lang="en-US" sz="2000" dirty="0">
              <a:latin typeface="Century Gothic" panose="020B0502020202020204" pitchFamily="34" charset="0"/>
            </a:endParaRPr>
          </a:p>
        </p:txBody>
      </p:sp>
      <p:pic>
        <p:nvPicPr>
          <p:cNvPr id="4" name="Picture 3"/>
          <p:cNvPicPr>
            <a:picLocks noChangeAspect="1"/>
          </p:cNvPicPr>
          <p:nvPr/>
        </p:nvPicPr>
        <p:blipFill rotWithShape="1">
          <a:blip r:embed="rId2"/>
          <a:srcRect t="5742"/>
          <a:stretch/>
        </p:blipFill>
        <p:spPr>
          <a:xfrm>
            <a:off x="2138278" y="4563564"/>
            <a:ext cx="8482587" cy="2019300"/>
          </a:xfrm>
          <a:prstGeom prst="rect">
            <a:avLst/>
          </a:prstGeom>
        </p:spPr>
      </p:pic>
    </p:spTree>
    <p:extLst>
      <p:ext uri="{BB962C8B-B14F-4D97-AF65-F5344CB8AC3E}">
        <p14:creationId xmlns:p14="http://schemas.microsoft.com/office/powerpoint/2010/main" val="3741377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3177" y="418011"/>
            <a:ext cx="5590903" cy="5590903"/>
          </a:xfrm>
        </p:spPr>
        <p:txBody>
          <a:bodyPr>
            <a:normAutofit/>
          </a:bodyPr>
          <a:lstStyle/>
          <a:p>
            <a:pPr marL="0" indent="0">
              <a:buNone/>
            </a:pPr>
            <a:r>
              <a:rPr lang="en-US" sz="2000" b="1" dirty="0">
                <a:latin typeface="Cambria" panose="02040503050406030204" pitchFamily="18" charset="0"/>
                <a:ea typeface="Cambria" panose="02040503050406030204" pitchFamily="18" charset="0"/>
              </a:rPr>
              <a:t>2. Significant Impact of ARRA (American Recovery and Reinvestment Act) Funding (2009–2011</a:t>
            </a:r>
            <a:r>
              <a:rPr lang="en-US" sz="2000" b="1" dirty="0" smtClean="0">
                <a:latin typeface="Cambria" panose="02040503050406030204" pitchFamily="18" charset="0"/>
                <a:ea typeface="Cambria" panose="02040503050406030204" pitchFamily="18" charset="0"/>
              </a:rPr>
              <a:t>)</a:t>
            </a:r>
          </a:p>
          <a:p>
            <a:pPr marL="0" lvl="0" indent="0" defTabSz="914400" eaLnBrk="0" fontAlgn="base" hangingPunct="0">
              <a:spcBef>
                <a:spcPct val="0"/>
              </a:spcBef>
              <a:spcAft>
                <a:spcPct val="0"/>
              </a:spcAft>
              <a:buClrTx/>
              <a:buSzTx/>
              <a:buNone/>
            </a:pPr>
            <a:endParaRPr lang="en-US" altLang="en-US" sz="2000" b="1"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smtClean="0">
                <a:latin typeface="Calibri Light" panose="020F0302020204030204" pitchFamily="34" charset="0"/>
                <a:ea typeface="Calibri Light" panose="020F0302020204030204" pitchFamily="34" charset="0"/>
                <a:cs typeface="Calibri Light" panose="020F0302020204030204" pitchFamily="34" charset="0"/>
              </a:rPr>
              <a:t>Finding</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A significant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spike in funding</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during the ARRA period (2009–2011), especially in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Cancer, Mental Health, and Diabetes research</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Insight: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Demonstrates the effectiveness of government stimulus programs in accelerating scientific funding and research output</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Gantt Chart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highlights ARRA-funded periods across different research areas.</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Vertical Bar Chart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shows comparative funding before, during, and after ARRA</a:t>
            </a:r>
          </a:p>
          <a:p>
            <a:endParaRPr lang="en-US" sz="2000" dirty="0"/>
          </a:p>
        </p:txBody>
      </p:sp>
      <p:pic>
        <p:nvPicPr>
          <p:cNvPr id="4" name="Picture 3"/>
          <p:cNvPicPr>
            <a:picLocks noChangeAspect="1"/>
          </p:cNvPicPr>
          <p:nvPr/>
        </p:nvPicPr>
        <p:blipFill>
          <a:blip r:embed="rId2"/>
          <a:stretch>
            <a:fillRect/>
          </a:stretch>
        </p:blipFill>
        <p:spPr>
          <a:xfrm>
            <a:off x="7175864" y="3085883"/>
            <a:ext cx="3805645" cy="2417936"/>
          </a:xfrm>
          <a:prstGeom prst="rect">
            <a:avLst/>
          </a:prstGeom>
        </p:spPr>
      </p:pic>
      <p:pic>
        <p:nvPicPr>
          <p:cNvPr id="5" name="Picture 4"/>
          <p:cNvPicPr>
            <a:picLocks noChangeAspect="1"/>
          </p:cNvPicPr>
          <p:nvPr/>
        </p:nvPicPr>
        <p:blipFill>
          <a:blip r:embed="rId3"/>
          <a:stretch>
            <a:fillRect/>
          </a:stretch>
        </p:blipFill>
        <p:spPr>
          <a:xfrm>
            <a:off x="7114903" y="273014"/>
            <a:ext cx="3580311" cy="2361315"/>
          </a:xfrm>
          <a:prstGeom prst="rect">
            <a:avLst/>
          </a:prstGeom>
        </p:spPr>
      </p:pic>
    </p:spTree>
    <p:extLst>
      <p:ext uri="{BB962C8B-B14F-4D97-AF65-F5344CB8AC3E}">
        <p14:creationId xmlns:p14="http://schemas.microsoft.com/office/powerpoint/2010/main" val="2672336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44434" y="182880"/>
            <a:ext cx="6574972" cy="5994083"/>
          </a:xfrm>
        </p:spPr>
        <p:txBody>
          <a:bodyPr>
            <a:normAutofit/>
          </a:bodyPr>
          <a:lstStyle/>
          <a:p>
            <a:pPr marL="0" indent="0">
              <a:buNone/>
            </a:pPr>
            <a:r>
              <a:rPr lang="en-US" sz="2000" b="1" dirty="0">
                <a:latin typeface="Cambria" panose="02040503050406030204" pitchFamily="18" charset="0"/>
                <a:ea typeface="Cambria" panose="02040503050406030204" pitchFamily="18" charset="0"/>
                <a:cs typeface="Calibri Light" panose="020F0302020204030204" pitchFamily="34" charset="0"/>
              </a:rPr>
              <a:t>3. Correlation Between Funding and Health Outcomes (2019 Mortality &amp; Prevalence</a:t>
            </a:r>
            <a:r>
              <a:rPr lang="en-US" sz="2000" b="1" dirty="0" smtClean="0">
                <a:latin typeface="Cambria" panose="02040503050406030204" pitchFamily="18" charset="0"/>
                <a:ea typeface="Cambria" panose="02040503050406030204" pitchFamily="18" charset="0"/>
                <a:cs typeface="Calibri Light" panose="020F0302020204030204" pitchFamily="34" charset="0"/>
              </a:rPr>
              <a:t>)</a:t>
            </a:r>
          </a:p>
          <a:p>
            <a:pPr marL="0" indent="0">
              <a:buNone/>
            </a:pPr>
            <a:endParaRPr lang="en-US" sz="2000" b="1" dirty="0">
              <a:latin typeface="Cambria" panose="02040503050406030204" pitchFamily="18" charset="0"/>
              <a:ea typeface="Cambria" panose="02040503050406030204" pitchFamily="18"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Finding:</a:t>
            </a: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Research areas with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higher funding</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(e.g., Cardiovascular) exhibit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lower mortality rates</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Areas like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Mental Health and Obesity</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have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high prevalence but low funding</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Insight: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Suggests a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funding–outcome gap</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emphasizing the need for better alignment of resources with disease burden</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Scatter Plot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plots 2019 funding against mortality and prevalence rates to reveal correlations</a:t>
            </a:r>
          </a:p>
          <a:p>
            <a:endParaRPr lang="en-US" dirty="0"/>
          </a:p>
        </p:txBody>
      </p:sp>
      <p:pic>
        <p:nvPicPr>
          <p:cNvPr id="4" name="Picture 3"/>
          <p:cNvPicPr>
            <a:picLocks noChangeAspect="1"/>
          </p:cNvPicPr>
          <p:nvPr/>
        </p:nvPicPr>
        <p:blipFill>
          <a:blip r:embed="rId2"/>
          <a:stretch>
            <a:fillRect/>
          </a:stretch>
        </p:blipFill>
        <p:spPr>
          <a:xfrm>
            <a:off x="7219406" y="954881"/>
            <a:ext cx="4689657" cy="2940436"/>
          </a:xfrm>
          <a:prstGeom prst="rect">
            <a:avLst/>
          </a:prstGeom>
        </p:spPr>
      </p:pic>
    </p:spTree>
    <p:extLst>
      <p:ext uri="{BB962C8B-B14F-4D97-AF65-F5344CB8AC3E}">
        <p14:creationId xmlns:p14="http://schemas.microsoft.com/office/powerpoint/2010/main" val="3697280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44435" y="435429"/>
            <a:ext cx="6618514" cy="6081168"/>
          </a:xfrm>
        </p:spPr>
        <p:txBody>
          <a:bodyPr>
            <a:normAutofit/>
          </a:bodyPr>
          <a:lstStyle/>
          <a:p>
            <a:pPr marL="0" indent="0">
              <a:buNone/>
            </a:pPr>
            <a:r>
              <a:rPr lang="en-US" sz="2000" b="1" dirty="0" smtClean="0">
                <a:latin typeface="Cambria" panose="02040503050406030204" pitchFamily="18" charset="0"/>
                <a:ea typeface="Cambria" panose="02040503050406030204" pitchFamily="18" charset="0"/>
              </a:rPr>
              <a:t>4. </a:t>
            </a:r>
            <a:r>
              <a:rPr lang="en-US" sz="2000" b="1" dirty="0">
                <a:latin typeface="Cambria" panose="02040503050406030204" pitchFamily="18" charset="0"/>
                <a:ea typeface="Cambria" panose="02040503050406030204" pitchFamily="18" charset="0"/>
              </a:rPr>
              <a:t>Emerging Research Trends and Future Funding Focus (2022–2024 projections)</a:t>
            </a: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Finding:</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Forecasted data shows increasing investment in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Genetics, Neuroscience, and Public Health</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indicating a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strategic shift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toward precision medicine and data-driven healthcare</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Insight: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Predictive analysis highlights the evolution of national research focus toward innovation-based fields</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Trend Line Analysis (Linear, Exponential, and Polynomial Models)</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projects future funding trends.</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endParaRPr lang="en-US" sz="2000" dirty="0"/>
          </a:p>
        </p:txBody>
      </p:sp>
      <p:pic>
        <p:nvPicPr>
          <p:cNvPr id="4" name="Picture 3"/>
          <p:cNvPicPr>
            <a:picLocks noChangeAspect="1"/>
          </p:cNvPicPr>
          <p:nvPr/>
        </p:nvPicPr>
        <p:blipFill>
          <a:blip r:embed="rId2"/>
          <a:stretch>
            <a:fillRect/>
          </a:stretch>
        </p:blipFill>
        <p:spPr>
          <a:xfrm>
            <a:off x="7493438" y="918279"/>
            <a:ext cx="4010585" cy="3186044"/>
          </a:xfrm>
          <a:prstGeom prst="rect">
            <a:avLst/>
          </a:prstGeom>
        </p:spPr>
      </p:pic>
    </p:spTree>
    <p:extLst>
      <p:ext uri="{BB962C8B-B14F-4D97-AF65-F5344CB8AC3E}">
        <p14:creationId xmlns:p14="http://schemas.microsoft.com/office/powerpoint/2010/main" val="785279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931" y="278674"/>
            <a:ext cx="11120845" cy="5225143"/>
          </a:xfrm>
        </p:spPr>
        <p:txBody>
          <a:bodyPr>
            <a:normAutofit/>
          </a:bodyPr>
          <a:lstStyle/>
          <a:p>
            <a:pPr marL="0" indent="0">
              <a:buNone/>
            </a:pPr>
            <a:r>
              <a:rPr lang="en-US" sz="2000" b="1" dirty="0" smtClean="0">
                <a:latin typeface="Cambria" panose="02040503050406030204" pitchFamily="18" charset="0"/>
                <a:ea typeface="Cambria" panose="02040503050406030204" pitchFamily="18" charset="0"/>
              </a:rPr>
              <a:t>6. Funding </a:t>
            </a:r>
            <a:r>
              <a:rPr lang="en-US" sz="2000" b="1" dirty="0">
                <a:latin typeface="Cambria" panose="02040503050406030204" pitchFamily="18" charset="0"/>
                <a:ea typeface="Cambria" panose="02040503050406030204" pitchFamily="18" charset="0"/>
              </a:rPr>
              <a:t>Diversity and Hierarchical </a:t>
            </a:r>
            <a:r>
              <a:rPr lang="en-US" sz="2000" b="1" dirty="0" smtClean="0">
                <a:latin typeface="Cambria" panose="02040503050406030204" pitchFamily="18" charset="0"/>
                <a:ea typeface="Cambria" panose="02040503050406030204" pitchFamily="18" charset="0"/>
              </a:rPr>
              <a:t>Distribution</a:t>
            </a:r>
          </a:p>
          <a:p>
            <a:pPr marL="0" indent="0">
              <a:buNone/>
            </a:pPr>
            <a:endParaRPr lang="en-US" sz="2000" b="1" dirty="0"/>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Finding:</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Approximately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60–70% of total funding</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is concentrated in a few dominant areas, while smaller research fields receive lower but consistent support</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Insight: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Suggests a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core–peripheral structure</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in funding priorities: few areas dominate, while many sustain baseline research activity</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Tree Map</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shows hierarchical structure of funding.</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Heat Map</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highlights funding intensity across all disease categories.</a:t>
            </a:r>
          </a:p>
          <a:p>
            <a:endParaRPr lang="en-US" sz="2000" dirty="0"/>
          </a:p>
        </p:txBody>
      </p:sp>
      <p:pic>
        <p:nvPicPr>
          <p:cNvPr id="4" name="Picture 3"/>
          <p:cNvPicPr>
            <a:picLocks noChangeAspect="1"/>
          </p:cNvPicPr>
          <p:nvPr/>
        </p:nvPicPr>
        <p:blipFill>
          <a:blip r:embed="rId2"/>
          <a:stretch>
            <a:fillRect/>
          </a:stretch>
        </p:blipFill>
        <p:spPr>
          <a:xfrm>
            <a:off x="2090057" y="4050365"/>
            <a:ext cx="6566263" cy="2462349"/>
          </a:xfrm>
          <a:prstGeom prst="rect">
            <a:avLst/>
          </a:prstGeom>
        </p:spPr>
      </p:pic>
    </p:spTree>
    <p:extLst>
      <p:ext uri="{BB962C8B-B14F-4D97-AF65-F5344CB8AC3E}">
        <p14:creationId xmlns:p14="http://schemas.microsoft.com/office/powerpoint/2010/main" val="2625151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006" y="130629"/>
            <a:ext cx="6496594" cy="6046334"/>
          </a:xfrm>
        </p:spPr>
        <p:txBody>
          <a:bodyPr>
            <a:normAutofit/>
          </a:bodyPr>
          <a:lstStyle/>
          <a:p>
            <a:pPr marL="0" indent="0">
              <a:buNone/>
            </a:pPr>
            <a:r>
              <a:rPr lang="en-US" sz="2000" b="1" dirty="0" smtClean="0">
                <a:latin typeface="Cambria" panose="02040503050406030204" pitchFamily="18" charset="0"/>
                <a:ea typeface="Cambria" panose="02040503050406030204" pitchFamily="18" charset="0"/>
              </a:rPr>
              <a:t>7.Trend </a:t>
            </a:r>
            <a:r>
              <a:rPr lang="en-US" sz="2000" b="1" dirty="0">
                <a:latin typeface="Cambria" panose="02040503050406030204" pitchFamily="18" charset="0"/>
                <a:ea typeface="Cambria" panose="02040503050406030204" pitchFamily="18" charset="0"/>
              </a:rPr>
              <a:t>Stability and </a:t>
            </a:r>
            <a:r>
              <a:rPr lang="en-US" sz="2000" b="1" dirty="0" smtClean="0">
                <a:latin typeface="Cambria" panose="02040503050406030204" pitchFamily="18" charset="0"/>
                <a:ea typeface="Cambria" panose="02040503050406030204" pitchFamily="18" charset="0"/>
              </a:rPr>
              <a:t>Volatility</a:t>
            </a:r>
          </a:p>
          <a:p>
            <a:pPr marL="0" indent="0">
              <a:buNone/>
            </a:pPr>
            <a:endParaRPr lang="en-US" sz="2000" b="1" dirty="0">
              <a:latin typeface="Cambria" panose="02040503050406030204" pitchFamily="18" charset="0"/>
              <a:ea typeface="Cambria" panose="02040503050406030204" pitchFamily="18"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Finding:</a:t>
            </a: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Stable Funding Areas:</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Cancer and Cardiovascular Diseases — gradual year-on-year increase.</a:t>
            </a: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Volatile Areas:</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Mental Health, Neurological, and Infectious Diseases </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strong </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fluctuations due to public health events and policy changes</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Insight: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Indicates that external factors (pandemics, awareness programs, and political focus) directly affect research investment trends</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Side-by-Side Bar Chart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compares annual funding variability between two disease areas.</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Waterfall Chart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visualizes year-to-year incremental funding changes.</a:t>
            </a:r>
          </a:p>
          <a:p>
            <a:endParaRPr lang="en-US" sz="20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6982584" y="210160"/>
            <a:ext cx="4706007" cy="2943636"/>
          </a:xfrm>
          <a:prstGeom prst="rect">
            <a:avLst/>
          </a:prstGeom>
        </p:spPr>
      </p:pic>
      <p:pic>
        <p:nvPicPr>
          <p:cNvPr id="6" name="Picture 5"/>
          <p:cNvPicPr>
            <a:picLocks noChangeAspect="1"/>
          </p:cNvPicPr>
          <p:nvPr/>
        </p:nvPicPr>
        <p:blipFill>
          <a:blip r:embed="rId3"/>
          <a:stretch>
            <a:fillRect/>
          </a:stretch>
        </p:blipFill>
        <p:spPr>
          <a:xfrm>
            <a:off x="6982584" y="3153796"/>
            <a:ext cx="4878490" cy="2857748"/>
          </a:xfrm>
          <a:prstGeom prst="rect">
            <a:avLst/>
          </a:prstGeom>
        </p:spPr>
      </p:pic>
    </p:spTree>
    <p:extLst>
      <p:ext uri="{BB962C8B-B14F-4D97-AF65-F5344CB8AC3E}">
        <p14:creationId xmlns:p14="http://schemas.microsoft.com/office/powerpoint/2010/main" val="3848914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26720" y="174171"/>
            <a:ext cx="6331131" cy="6002792"/>
          </a:xfrm>
        </p:spPr>
        <p:txBody>
          <a:bodyPr>
            <a:normAutofit/>
          </a:bodyPr>
          <a:lstStyle/>
          <a:p>
            <a:pPr marL="0" indent="0">
              <a:buNone/>
            </a:pPr>
            <a:r>
              <a:rPr lang="en-US" sz="2000" b="1" dirty="0" smtClean="0">
                <a:latin typeface="Cambria" panose="02040503050406030204" pitchFamily="18" charset="0"/>
                <a:ea typeface="Cambria" panose="02040503050406030204" pitchFamily="18" charset="0"/>
              </a:rPr>
              <a:t>8. Relationship </a:t>
            </a:r>
            <a:r>
              <a:rPr lang="en-US" sz="2000" b="1" dirty="0">
                <a:latin typeface="Cambria" panose="02040503050406030204" pitchFamily="18" charset="0"/>
                <a:ea typeface="Cambria" panose="02040503050406030204" pitchFamily="18" charset="0"/>
              </a:rPr>
              <a:t>Between Research Area and Mortality Reduction</a:t>
            </a:r>
          </a:p>
          <a:p>
            <a:pPr marL="0" indent="0">
              <a:buNone/>
            </a:pPr>
            <a:r>
              <a:rPr lang="en-US" sz="2000" b="1" dirty="0">
                <a:latin typeface="Calibri Light" panose="020F0302020204030204" pitchFamily="34" charset="0"/>
                <a:ea typeface="Calibri Light" panose="020F0302020204030204" pitchFamily="34" charset="0"/>
                <a:cs typeface="Calibri Light" panose="020F0302020204030204" pitchFamily="34" charset="0"/>
              </a:rPr>
              <a:t>Finding:</a:t>
            </a:r>
            <a:r>
              <a:rPr 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sz="2000" dirty="0">
                <a:latin typeface="Calibri Light" panose="020F0302020204030204" pitchFamily="34" charset="0"/>
                <a:ea typeface="Calibri Light" panose="020F0302020204030204" pitchFamily="34" charset="0"/>
                <a:cs typeface="Calibri Light" panose="020F0302020204030204" pitchFamily="34" charset="0"/>
              </a:rPr>
              <a:t>A </a:t>
            </a:r>
            <a:r>
              <a:rPr lang="en-US" sz="2000" b="1" dirty="0">
                <a:latin typeface="Calibri Light" panose="020F0302020204030204" pitchFamily="34" charset="0"/>
                <a:ea typeface="Calibri Light" panose="020F0302020204030204" pitchFamily="34" charset="0"/>
                <a:cs typeface="Calibri Light" panose="020F0302020204030204" pitchFamily="34" charset="0"/>
              </a:rPr>
              <a:t>negative correlation</a:t>
            </a:r>
            <a:r>
              <a:rPr lang="en-US" sz="2000" dirty="0">
                <a:latin typeface="Calibri Light" panose="020F0302020204030204" pitchFamily="34" charset="0"/>
                <a:ea typeface="Calibri Light" panose="020F0302020204030204" pitchFamily="34" charset="0"/>
                <a:cs typeface="Calibri Light" panose="020F0302020204030204" pitchFamily="34" charset="0"/>
              </a:rPr>
              <a:t> is observed between funding and mortality rate — as funding increases, mortality generally declines in high-funded research areas.</a:t>
            </a:r>
          </a:p>
          <a:p>
            <a:pPr marL="0" indent="0">
              <a:buNone/>
            </a:pPr>
            <a:r>
              <a:rPr lang="en-US" sz="2000" b="1" dirty="0">
                <a:latin typeface="Calibri Light" panose="020F0302020204030204" pitchFamily="34" charset="0"/>
                <a:ea typeface="Calibri Light" panose="020F0302020204030204" pitchFamily="34" charset="0"/>
                <a:cs typeface="Calibri Light" panose="020F0302020204030204" pitchFamily="34" charset="0"/>
              </a:rPr>
              <a:t>I</a:t>
            </a:r>
            <a:r>
              <a:rPr lang="en-US" sz="2000" b="1" dirty="0" smtClean="0">
                <a:latin typeface="Calibri Light" panose="020F0302020204030204" pitchFamily="34" charset="0"/>
                <a:ea typeface="Calibri Light" panose="020F0302020204030204" pitchFamily="34" charset="0"/>
                <a:cs typeface="Calibri Light" panose="020F0302020204030204" pitchFamily="34" charset="0"/>
              </a:rPr>
              <a:t>nsight</a:t>
            </a:r>
            <a:r>
              <a:rPr lang="en-US" sz="2000" b="1" dirty="0">
                <a:latin typeface="Calibri Light" panose="020F0302020204030204" pitchFamily="34" charset="0"/>
                <a:ea typeface="Calibri Light" panose="020F0302020204030204" pitchFamily="34" charset="0"/>
                <a:cs typeface="Calibri Light" panose="020F0302020204030204" pitchFamily="34" charset="0"/>
              </a:rPr>
              <a:t>:</a:t>
            </a:r>
            <a:r>
              <a:rPr 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sz="2000" dirty="0">
                <a:latin typeface="Calibri Light" panose="020F0302020204030204" pitchFamily="34" charset="0"/>
                <a:ea typeface="Calibri Light" panose="020F0302020204030204" pitchFamily="34" charset="0"/>
                <a:cs typeface="Calibri Light" panose="020F0302020204030204" pitchFamily="34" charset="0"/>
              </a:rPr>
              <a:t>Confirms that </a:t>
            </a:r>
            <a:r>
              <a:rPr lang="en-US" sz="2000" b="1" dirty="0">
                <a:latin typeface="Calibri Light" panose="020F0302020204030204" pitchFamily="34" charset="0"/>
                <a:ea typeface="Calibri Light" panose="020F0302020204030204" pitchFamily="34" charset="0"/>
                <a:cs typeface="Calibri Light" panose="020F0302020204030204" pitchFamily="34" charset="0"/>
              </a:rPr>
              <a:t>sustained research investment leads to measurable public health improvements.</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sz="2000" b="1" dirty="0">
                <a:latin typeface="Calibri Light" panose="020F0302020204030204" pitchFamily="34" charset="0"/>
                <a:ea typeface="Calibri Light" panose="020F0302020204030204" pitchFamily="34" charset="0"/>
                <a:cs typeface="Calibri Light" panose="020F0302020204030204" pitchFamily="34" charset="0"/>
              </a:rPr>
              <a:t>Scatter Plot</a:t>
            </a:r>
            <a:r>
              <a:rPr lang="en-US" sz="2000" dirty="0">
                <a:latin typeface="Calibri Light" panose="020F0302020204030204" pitchFamily="34" charset="0"/>
                <a:ea typeface="Calibri Light" panose="020F0302020204030204" pitchFamily="34" charset="0"/>
                <a:cs typeface="Calibri Light" panose="020F0302020204030204" pitchFamily="34" charset="0"/>
              </a:rPr>
              <a:t> – correlation between cumulative funding and mortality rate.</a:t>
            </a:r>
            <a:br>
              <a:rPr 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sz="2000" b="1" dirty="0">
                <a:latin typeface="Calibri Light" panose="020F0302020204030204" pitchFamily="34" charset="0"/>
                <a:ea typeface="Calibri Light" panose="020F0302020204030204" pitchFamily="34" charset="0"/>
                <a:cs typeface="Calibri Light" panose="020F0302020204030204" pitchFamily="34" charset="0"/>
              </a:rPr>
              <a:t>Whisker Plot</a:t>
            </a:r>
            <a:r>
              <a:rPr lang="en-US" sz="2000" dirty="0">
                <a:latin typeface="Calibri Light" panose="020F0302020204030204" pitchFamily="34" charset="0"/>
                <a:ea typeface="Calibri Light" panose="020F0302020204030204" pitchFamily="34" charset="0"/>
                <a:cs typeface="Calibri Light" panose="020F0302020204030204" pitchFamily="34" charset="0"/>
              </a:rPr>
              <a:t> – shows range (min–max) of funding variation linked to mortality outcomes.</a:t>
            </a:r>
          </a:p>
          <a:p>
            <a:pPr marL="0" indent="0">
              <a:buNone/>
            </a:pPr>
            <a:endParaRPr lang="en-US" sz="2000" dirty="0"/>
          </a:p>
        </p:txBody>
      </p:sp>
      <p:pic>
        <p:nvPicPr>
          <p:cNvPr id="4" name="Picture 3"/>
          <p:cNvPicPr>
            <a:picLocks noChangeAspect="1"/>
          </p:cNvPicPr>
          <p:nvPr/>
        </p:nvPicPr>
        <p:blipFill>
          <a:blip r:embed="rId2"/>
          <a:stretch>
            <a:fillRect/>
          </a:stretch>
        </p:blipFill>
        <p:spPr>
          <a:xfrm>
            <a:off x="7798292" y="197236"/>
            <a:ext cx="3353268" cy="2873829"/>
          </a:xfrm>
          <a:prstGeom prst="rect">
            <a:avLst/>
          </a:prstGeom>
        </p:spPr>
      </p:pic>
      <p:pic>
        <p:nvPicPr>
          <p:cNvPr id="5" name="Picture 4"/>
          <p:cNvPicPr>
            <a:picLocks noChangeAspect="1"/>
          </p:cNvPicPr>
          <p:nvPr/>
        </p:nvPicPr>
        <p:blipFill rotWithShape="1">
          <a:blip r:embed="rId3"/>
          <a:srcRect l="3698" t="1612"/>
          <a:stretch/>
        </p:blipFill>
        <p:spPr>
          <a:xfrm>
            <a:off x="7798292" y="3175567"/>
            <a:ext cx="3399639" cy="3204754"/>
          </a:xfrm>
          <a:prstGeom prst="rect">
            <a:avLst/>
          </a:prstGeom>
        </p:spPr>
      </p:pic>
    </p:spTree>
    <p:extLst>
      <p:ext uri="{BB962C8B-B14F-4D97-AF65-F5344CB8AC3E}">
        <p14:creationId xmlns:p14="http://schemas.microsoft.com/office/powerpoint/2010/main" val="3669528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75064" y="287383"/>
            <a:ext cx="5886994" cy="5889580"/>
          </a:xfrm>
        </p:spPr>
        <p:txBody>
          <a:bodyPr>
            <a:normAutofit/>
          </a:bodyPr>
          <a:lstStyle/>
          <a:p>
            <a:pPr marL="0" indent="0">
              <a:buNone/>
            </a:pPr>
            <a:r>
              <a:rPr lang="en-US" sz="2000" b="1" dirty="0">
                <a:latin typeface="Cambria" panose="02040503050406030204" pitchFamily="18" charset="0"/>
                <a:ea typeface="Cambria" panose="02040503050406030204" pitchFamily="18" charset="0"/>
              </a:rPr>
              <a:t>9. Forecasting Insights (Based on Trend Models</a:t>
            </a:r>
            <a:r>
              <a:rPr lang="en-US" sz="2000" b="1" dirty="0" smtClean="0">
                <a:latin typeface="Cambria" panose="02040503050406030204" pitchFamily="18" charset="0"/>
                <a:ea typeface="Cambria" panose="02040503050406030204" pitchFamily="18" charset="0"/>
              </a:rPr>
              <a:t>)</a:t>
            </a:r>
          </a:p>
          <a:p>
            <a:pPr marL="0" indent="0">
              <a:buNone/>
            </a:pPr>
            <a:endParaRPr lang="en-US" sz="2000" b="1" dirty="0">
              <a:latin typeface="Cambria" panose="02040503050406030204" pitchFamily="18" charset="0"/>
              <a:ea typeface="Cambria" panose="02040503050406030204" pitchFamily="18"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Finding:</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Predictive analysis indicates:</a:t>
            </a:r>
          </a:p>
          <a:p>
            <a:pPr marL="0" lvl="0" indent="0" defTabSz="914400" eaLnBrk="0" fontAlgn="base" hangingPunct="0">
              <a:spcBef>
                <a:spcPct val="0"/>
              </a:spcBef>
              <a:spcAft>
                <a:spcPct val="0"/>
              </a:spcAft>
              <a:buClrTx/>
              <a:buSzTx/>
              <a:buFontTx/>
              <a:buChar char="•"/>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10–15% overall funding growth</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expected by 2025.</a:t>
            </a:r>
          </a:p>
          <a:p>
            <a:pPr marL="0" lvl="0" indent="0" defTabSz="914400" eaLnBrk="0" fontAlgn="base" hangingPunct="0">
              <a:spcBef>
                <a:spcPct val="0"/>
              </a:spcBef>
              <a:spcAft>
                <a:spcPct val="0"/>
              </a:spcAft>
              <a:buClrTx/>
              <a:buSzTx/>
              <a:buFontTx/>
              <a:buChar char="•"/>
            </a:pP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Continued rise in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AI, genetics, and preventive medicine research</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Insight: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Establishes forward-looking funding potential for emerging medical technologies</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Trend Charts (Polynomial and Exponential Models)</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visualize projected funding growth trajectories.</a:t>
            </a:r>
          </a:p>
          <a:p>
            <a:endParaRPr lang="en-US" sz="20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rotWithShape="1">
          <a:blip r:embed="rId2"/>
          <a:srcRect t="1501" b="-1"/>
          <a:stretch/>
        </p:blipFill>
        <p:spPr>
          <a:xfrm>
            <a:off x="7130672" y="1053736"/>
            <a:ext cx="4096322" cy="3302959"/>
          </a:xfrm>
          <a:prstGeom prst="rect">
            <a:avLst/>
          </a:prstGeom>
        </p:spPr>
      </p:pic>
    </p:spTree>
    <p:extLst>
      <p:ext uri="{BB962C8B-B14F-4D97-AF65-F5344CB8AC3E}">
        <p14:creationId xmlns:p14="http://schemas.microsoft.com/office/powerpoint/2010/main" val="47417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44434" y="400594"/>
            <a:ext cx="5738949" cy="5776369"/>
          </a:xfrm>
        </p:spPr>
        <p:txBody>
          <a:bodyPr>
            <a:normAutofit/>
          </a:bodyPr>
          <a:lstStyle/>
          <a:p>
            <a:pPr marL="0" indent="0">
              <a:buNone/>
            </a:pPr>
            <a:r>
              <a:rPr lang="en-US" sz="2000" b="1" dirty="0">
                <a:latin typeface="Cambria" panose="02040503050406030204" pitchFamily="18" charset="0"/>
                <a:ea typeface="Cambria" panose="02040503050406030204" pitchFamily="18" charset="0"/>
                <a:cs typeface="Calibri Light" panose="020F0302020204030204" pitchFamily="34" charset="0"/>
              </a:rPr>
              <a:t>10. Strategic </a:t>
            </a:r>
            <a:r>
              <a:rPr lang="en-US" sz="2000" b="1" dirty="0" smtClean="0">
                <a:latin typeface="Cambria" panose="02040503050406030204" pitchFamily="18" charset="0"/>
                <a:ea typeface="Cambria" panose="02040503050406030204" pitchFamily="18" charset="0"/>
                <a:cs typeface="Calibri Light" panose="020F0302020204030204" pitchFamily="34" charset="0"/>
              </a:rPr>
              <a:t>Implications</a:t>
            </a:r>
          </a:p>
          <a:p>
            <a:pPr marL="0" indent="0">
              <a:buNone/>
            </a:pPr>
            <a:endParaRPr lang="en-US" sz="2000" b="1"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Finding:</a:t>
            </a: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Some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high-prevalence diseases (e.g., obesity, mental health)</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remain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underfunded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Regional and categorical funding gaps</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persist</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Insight: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Policy redesign should focus on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balancing funding equity</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and </a:t>
            </a: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enhancing outcome-based funding mechanisms</a:t>
            </a:r>
            <a:r>
              <a:rPr lang="en-US" altLang="en-US" sz="2000" dirty="0" smtClean="0">
                <a:latin typeface="Calibri Light" panose="020F0302020204030204" pitchFamily="34" charset="0"/>
                <a:ea typeface="Calibri Light" panose="020F0302020204030204" pitchFamily="34" charset="0"/>
                <a:cs typeface="Calibri Light" panose="020F0302020204030204" pitchFamily="34" charset="0"/>
              </a:rPr>
              <a:t>.</a:t>
            </a:r>
          </a:p>
          <a:p>
            <a:pPr marL="0" lvl="0" indent="0" defTabSz="914400" eaLnBrk="0" fontAlgn="base" hangingPunct="0">
              <a:spcBef>
                <a:spcPct val="0"/>
              </a:spcBef>
              <a:spcAft>
                <a:spcPct val="0"/>
              </a:spcAft>
              <a:buClrTx/>
              <a:buSzTx/>
              <a:buNone/>
            </a:pPr>
            <a:endParaRPr lang="en-US" alt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0" lvl="0" indent="0" defTabSz="914400" eaLnBrk="0" fontAlgn="base" hangingPunct="0">
              <a:spcBef>
                <a:spcPct val="0"/>
              </a:spcBef>
              <a:spcAft>
                <a:spcPct val="0"/>
              </a:spcAft>
              <a:buClrTx/>
              <a:buSzTx/>
              <a:buNone/>
            </a:pP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Visualization Used:</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Stacked Bar Chart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compares proportional funding across disease groups and years.</a:t>
            </a:r>
            <a:br>
              <a:rPr lang="en-US" altLang="en-US" sz="2000" dirty="0">
                <a:latin typeface="Calibri Light" panose="020F0302020204030204" pitchFamily="34" charset="0"/>
                <a:ea typeface="Calibri Light" panose="020F0302020204030204" pitchFamily="34" charset="0"/>
                <a:cs typeface="Calibri Light" panose="020F0302020204030204" pitchFamily="34" charset="0"/>
              </a:rPr>
            </a:br>
            <a:r>
              <a:rPr lang="en-US" altLang="en-US" sz="2000" b="1" dirty="0">
                <a:latin typeface="Calibri Light" panose="020F0302020204030204" pitchFamily="34" charset="0"/>
                <a:ea typeface="Calibri Light" panose="020F0302020204030204" pitchFamily="34" charset="0"/>
                <a:cs typeface="Calibri Light" panose="020F0302020204030204" pitchFamily="34" charset="0"/>
              </a:rPr>
              <a:t>Doughnut Chart</a:t>
            </a:r>
            <a:r>
              <a:rPr lang="en-US" altLang="en-US" sz="2000" dirty="0">
                <a:latin typeface="Calibri Light" panose="020F0302020204030204" pitchFamily="34" charset="0"/>
                <a:ea typeface="Calibri Light" panose="020F0302020204030204" pitchFamily="34" charset="0"/>
                <a:cs typeface="Calibri Light" panose="020F0302020204030204" pitchFamily="34" charset="0"/>
              </a:rPr>
              <a:t> – shows annual funding distribution across major research areas.</a:t>
            </a:r>
          </a:p>
          <a:p>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4" name="Picture 3"/>
          <p:cNvPicPr>
            <a:picLocks noChangeAspect="1"/>
          </p:cNvPicPr>
          <p:nvPr/>
        </p:nvPicPr>
        <p:blipFill>
          <a:blip r:embed="rId2"/>
          <a:stretch>
            <a:fillRect/>
          </a:stretch>
        </p:blipFill>
        <p:spPr>
          <a:xfrm>
            <a:off x="7270586" y="173088"/>
            <a:ext cx="3580294" cy="2848955"/>
          </a:xfrm>
          <a:prstGeom prst="rect">
            <a:avLst/>
          </a:prstGeom>
        </p:spPr>
      </p:pic>
      <p:pic>
        <p:nvPicPr>
          <p:cNvPr id="5" name="Picture 4"/>
          <p:cNvPicPr>
            <a:picLocks noChangeAspect="1"/>
          </p:cNvPicPr>
          <p:nvPr/>
        </p:nvPicPr>
        <p:blipFill>
          <a:blip r:embed="rId3"/>
          <a:stretch>
            <a:fillRect/>
          </a:stretch>
        </p:blipFill>
        <p:spPr>
          <a:xfrm>
            <a:off x="7378992" y="3152672"/>
            <a:ext cx="3471888" cy="2795281"/>
          </a:xfrm>
          <a:prstGeom prst="rect">
            <a:avLst/>
          </a:prstGeom>
        </p:spPr>
      </p:pic>
    </p:spTree>
    <p:extLst>
      <p:ext uri="{BB962C8B-B14F-4D97-AF65-F5344CB8AC3E}">
        <p14:creationId xmlns:p14="http://schemas.microsoft.com/office/powerpoint/2010/main" val="2996822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a:t>
            </a:r>
            <a:endParaRPr lang="en-US" dirty="0"/>
          </a:p>
        </p:txBody>
      </p:sp>
      <p:sp>
        <p:nvSpPr>
          <p:cNvPr id="3" name="Content Placeholder 2"/>
          <p:cNvSpPr>
            <a:spLocks noGrp="1"/>
          </p:cNvSpPr>
          <p:nvPr>
            <p:ph idx="1"/>
          </p:nvPr>
        </p:nvSpPr>
        <p:spPr/>
        <p:txBody>
          <a:bodyPr>
            <a:normAutofit fontScale="92500"/>
          </a:bodyPr>
          <a:lstStyle/>
          <a:p>
            <a:r>
              <a:rPr lang="en-US" dirty="0"/>
              <a:t>Cancer, Cardiovascular, and Neurological research areas receive consistent and steadily increasing funding from 2008–2024.</a:t>
            </a:r>
          </a:p>
          <a:p>
            <a:r>
              <a:rPr lang="en-US" dirty="0"/>
              <a:t>ARRA (2009–2011) significantly boosted funding levels across multiple research categories, with lasting post-policy impact.</a:t>
            </a:r>
          </a:p>
          <a:p>
            <a:r>
              <a:rPr lang="en-US" dirty="0"/>
              <a:t>Funding allocation does not fully align with disease burden </a:t>
            </a:r>
            <a:r>
              <a:rPr lang="en-US" dirty="0" smtClean="0"/>
              <a:t>high prevalence </a:t>
            </a:r>
            <a:r>
              <a:rPr lang="en-US" dirty="0"/>
              <a:t>diseases like Mental Health and Obesity remain underfunded.</a:t>
            </a:r>
          </a:p>
          <a:p>
            <a:r>
              <a:rPr lang="en-US" dirty="0"/>
              <a:t>There is a negative correlation between funding levels and mortality rates </a:t>
            </a:r>
            <a:r>
              <a:rPr lang="en-US" dirty="0" smtClean="0"/>
              <a:t>higher </a:t>
            </a:r>
            <a:r>
              <a:rPr lang="en-US" dirty="0"/>
              <a:t>investment areas generally show reduced mortality.</a:t>
            </a:r>
          </a:p>
          <a:p>
            <a:r>
              <a:rPr lang="en-US" dirty="0"/>
              <a:t>Research funding is heavily concentrated in the Northeast U.S., highlighting regional inequality in resource distribution.</a:t>
            </a:r>
          </a:p>
          <a:p>
            <a:endParaRPr lang="en-US" dirty="0"/>
          </a:p>
        </p:txBody>
      </p:sp>
    </p:spTree>
    <p:extLst>
      <p:ext uri="{BB962C8B-B14F-4D97-AF65-F5344CB8AC3E}">
        <p14:creationId xmlns:p14="http://schemas.microsoft.com/office/powerpoint/2010/main" val="4151913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Predictive analysis suggests overall healthcare research funding will grow by 10–15% by 2025.</a:t>
            </a:r>
          </a:p>
          <a:p>
            <a:r>
              <a:rPr lang="en-US" dirty="0"/>
              <a:t>Technological and data-driven research areas are emerging as new funding priorities.</a:t>
            </a:r>
          </a:p>
          <a:p>
            <a:r>
              <a:rPr lang="en-US" dirty="0"/>
              <a:t>Disparities persist between funding allocation and public health needs, indicating a need for better policy alignment.</a:t>
            </a:r>
          </a:p>
          <a:p>
            <a:r>
              <a:rPr lang="en-US" dirty="0"/>
              <a:t>Regional funding gaps can be addressed by diversifying investment beyond traditional research hubs.</a:t>
            </a:r>
          </a:p>
          <a:p>
            <a:r>
              <a:rPr lang="en-US" dirty="0"/>
              <a:t>Outcome-linked funding strategies can improve efficiency and accountability in research spending.</a:t>
            </a:r>
          </a:p>
          <a:p>
            <a:r>
              <a:rPr lang="en-US" dirty="0"/>
              <a:t>Sustained funding has shown measurable positive impacts on reducing mortality rates in major disease categories.</a:t>
            </a:r>
          </a:p>
          <a:p>
            <a:r>
              <a:rPr lang="en-US" dirty="0"/>
              <a:t>Long-term trends reveal a gradual shift from traditional biomedical research toward innovation-based and preventive health fields.</a:t>
            </a:r>
          </a:p>
          <a:p>
            <a:endParaRPr lang="en-US" dirty="0"/>
          </a:p>
        </p:txBody>
      </p:sp>
    </p:spTree>
    <p:extLst>
      <p:ext uri="{BB962C8B-B14F-4D97-AF65-F5344CB8AC3E}">
        <p14:creationId xmlns:p14="http://schemas.microsoft.com/office/powerpoint/2010/main" val="3238705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83000">
              <a:schemeClr val="accent1">
                <a:lumMod val="40000"/>
                <a:lumOff val="60000"/>
                <a:alpha val="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r>
              <a:rPr lang="en-US" dirty="0"/>
              <a:t>The dataset underscores the vital link between research funding and national health priorities.</a:t>
            </a:r>
          </a:p>
          <a:p>
            <a:r>
              <a:rPr lang="en-US" dirty="0"/>
              <a:t>Sustained investments in certain diseases have yielded measurable health benefits, while others remain underfunded relative to their societal burden.</a:t>
            </a:r>
          </a:p>
          <a:p>
            <a:r>
              <a:rPr lang="en-US" dirty="0"/>
              <a:t>Data-driven policy design using tools like Tableau enables better resource planning, transparency, and accountability.</a:t>
            </a:r>
          </a:p>
          <a:p>
            <a:r>
              <a:rPr lang="en-US" dirty="0"/>
              <a:t>The interactive dashboard serves as a decision-support system for stakeholders to track, analyze, and predict healthcare research investments effectively.</a:t>
            </a:r>
          </a:p>
          <a:p>
            <a:endParaRPr lang="en-US" dirty="0"/>
          </a:p>
        </p:txBody>
      </p:sp>
    </p:spTree>
    <p:extLst>
      <p:ext uri="{BB962C8B-B14F-4D97-AF65-F5344CB8AC3E}">
        <p14:creationId xmlns:p14="http://schemas.microsoft.com/office/powerpoint/2010/main" val="468025096"/>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370</TotalTime>
  <Words>779</Words>
  <Application>Microsoft Office PowerPoint</Application>
  <PresentationFormat>Widescreen</PresentationFormat>
  <Paragraphs>119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Cambria</vt:lpstr>
      <vt:lpstr>Century Gothic</vt:lpstr>
      <vt:lpstr>Office Theme</vt:lpstr>
      <vt:lpstr>HealthCare Analysis</vt:lpstr>
      <vt:lpstr>Introduction</vt:lpstr>
      <vt:lpstr>Methodologies</vt:lpstr>
      <vt:lpstr>Visualization and Dashboard Development</vt:lpstr>
      <vt:lpstr>PowerPoint Presentation</vt:lpstr>
      <vt:lpstr>PowerPoint Presentation</vt:lpstr>
      <vt:lpstr>Key Findings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Insights</vt:lpstr>
      <vt:lpstr>PowerPoint Presentation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16</cp:revision>
  <dcterms:created xsi:type="dcterms:W3CDTF">2025-10-31T12:47:19Z</dcterms:created>
  <dcterms:modified xsi:type="dcterms:W3CDTF">2025-11-13T16:59:44Z</dcterms:modified>
</cp:coreProperties>
</file>